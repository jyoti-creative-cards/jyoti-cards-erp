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2"/>
  </p:normalViewPr>
  <p:slideViewPr>
    <p:cSldViewPr snapToGrid="0" snapToObjects="1">
      <p:cViewPr varScale="1">
        <p:scale>
          <a:sx n="148" d="100"/>
          <a:sy n="148" d="100"/>
        </p:scale>
        <p:origin x="62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097280"/>
            <a:ext cx="4023360" cy="4023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6060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66FF"/>
                </a:solidFill>
              </a:defRPr>
            </a:pPr>
            <a:r>
              <a:t>AI · DATA · ENGINEERING ·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63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Capability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204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May 2026  ·  synvoric.com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solidFill>
            <a:srgbClr val="03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491947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Synvoric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699FF"/>
                </a:solidFill>
              </a:defRPr>
            </a:pPr>
            <a: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66FF"/>
                </a:solidFill>
                <a:latin typeface="Calibri"/>
              </a:defRPr>
            </a:pPr>
            <a:r>
              <a:t>ABOUT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1C2C"/>
                </a:solidFill>
                <a:latin typeface="Calibri"/>
              </a:defRPr>
            </a:pPr>
            <a:r>
              <a:t>Who We 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411480" cy="2743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Calibri"/>
              </a:defRPr>
            </a:pPr>
            <a:r>
              <a:rPr dirty="0" err="1"/>
              <a:t>Synvoric</a:t>
            </a:r>
            <a:r>
              <a:rPr dirty="0"/>
              <a:t> is a professional IT staffing company specializing in frontend developers and AI/ML engineers. We partner with enterprises and growth-stage companies to deliver vetted engineering talent for web applications, mobile apps, and AI-powered products.</a:t>
            </a:r>
          </a:p>
          <a:p>
            <a:br>
              <a:rPr dirty="0"/>
            </a:br>
            <a:r>
              <a:rPr dirty="0"/>
              <a:t>Founded on the belief that great software starts with great people, we combine rigorous technical vetting with a partnership-first approach.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0" y="1554480"/>
            <a:ext cx="1508760" cy="10058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66FF"/>
                </a:solidFill>
              </a:defRPr>
            </a:pPr>
            <a:r>
              <a:t>50+</a:t>
            </a:r>
          </a:p>
          <a:p>
            <a:pPr algn="ctr">
              <a:defRPr sz="800">
                <a:solidFill>
                  <a:srgbClr val="64748B"/>
                </a:solidFill>
              </a:defRPr>
            </a:pPr>
            <a:r>
              <a:t>DEVELOPERS PLACED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60920" y="1554480"/>
            <a:ext cx="1508760" cy="10058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66FF"/>
                </a:solidFill>
              </a:defRPr>
            </a:pPr>
            <a:r>
              <a:t>10+</a:t>
            </a:r>
          </a:p>
          <a:p>
            <a:pPr algn="ctr">
              <a:defRPr sz="800">
                <a:solidFill>
                  <a:srgbClr val="64748B"/>
                </a:solidFill>
              </a:defRPr>
            </a:pPr>
            <a:r>
              <a:t>CLIENTS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2788920"/>
            <a:ext cx="1508760" cy="10058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66FF"/>
                </a:solidFill>
              </a:defRPr>
            </a:pPr>
            <a:r>
              <a:t>100%</a:t>
            </a:r>
          </a:p>
          <a:p>
            <a:pPr algn="ctr">
              <a:defRPr sz="800">
                <a:solidFill>
                  <a:srgbClr val="64748B"/>
                </a:solidFill>
              </a:defRPr>
            </a:pPr>
            <a:r>
              <a:t>RETENTION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0920" y="2788920"/>
            <a:ext cx="1508760" cy="10058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66FF"/>
                </a:solidFill>
              </a:defRPr>
            </a:pPr>
            <a:r>
              <a:t>2 Weeks</a:t>
            </a:r>
          </a:p>
          <a:p>
            <a:pPr algn="ctr">
              <a:defRPr sz="800">
                <a:solidFill>
                  <a:srgbClr val="64748B"/>
                </a:solidFill>
              </a:defRPr>
            </a:pPr>
            <a:r>
              <a:t>TIME TO HIRE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491947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Synvoric ·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66FF"/>
                </a:solidFill>
              </a:defRPr>
            </a:pPr>
            <a: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FFFFF">
                    <a:lumMod val="85000"/>
                    <a:lumOff val="15000"/>
                  </a:srgbClr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5204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Our Services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solidFill>
            <a:srgbClr val="03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91947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Synvoric ·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699FF"/>
                </a:solidFill>
              </a:defRPr>
            </a:pPr>
            <a: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66FF"/>
                </a:solidFill>
                <a:latin typeface="Calibri"/>
              </a:defRPr>
            </a:pPr>
            <a:r>
              <a:t>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1C2C"/>
                </a:solidFill>
                <a:latin typeface="Calibri"/>
              </a:defRPr>
            </a:pPr>
            <a:r>
              <a:t>Staffing &amp; Development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411480" cy="2743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2651760" cy="1508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tlCol="0" anchor="ctr"/>
          <a:lstStyle/>
          <a:p>
            <a:pPr algn="ctr">
              <a:defRPr sz="1100" b="1">
                <a:solidFill>
                  <a:srgbClr val="051C2C"/>
                </a:solidFill>
              </a:defRPr>
            </a:pPr>
            <a:r>
              <a:t>Frontend Developer Staffing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React, Angular, Vue, Next.js specialists for production-ready UI.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2651760" cy="36576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337560" y="1417320"/>
            <a:ext cx="2651760" cy="1508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tlCol="0" anchor="ctr"/>
          <a:lstStyle/>
          <a:p>
            <a:pPr algn="ctr">
              <a:defRPr sz="1100" b="1">
                <a:solidFill>
                  <a:srgbClr val="051C2C"/>
                </a:solidFill>
              </a:defRPr>
            </a:pPr>
            <a:r>
              <a:t>AI &amp; ML Engineer Staffing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ML engineers, LLM integrators, and data scientists.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417320"/>
            <a:ext cx="2651760" cy="36576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72200" y="1417320"/>
            <a:ext cx="2651760" cy="1508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tlCol="0" anchor="ctr"/>
          <a:lstStyle/>
          <a:p>
            <a:pPr algn="ctr">
              <a:defRPr sz="1100" b="1">
                <a:solidFill>
                  <a:srgbClr val="051C2C"/>
                </a:solidFill>
              </a:defRPr>
            </a:pPr>
            <a:r>
              <a:t>Web App Development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MERN, MEAN, and enterprise SaaS teams.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417320"/>
            <a:ext cx="2651760" cy="36576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3108960"/>
            <a:ext cx="2651760" cy="1508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tlCol="0" anchor="ctr"/>
          <a:lstStyle/>
          <a:p>
            <a:pPr algn="ctr">
              <a:defRPr sz="1100" b="1">
                <a:solidFill>
                  <a:srgbClr val="051C2C"/>
                </a:solidFill>
              </a:defRPr>
            </a:pPr>
            <a:r>
              <a:t>Mobile App Development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iOS, Android, React Native, and Flutter teams.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2651760" cy="36576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37560" y="3108960"/>
            <a:ext cx="2651760" cy="1508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tlCol="0" anchor="ctr"/>
          <a:lstStyle/>
          <a:p>
            <a:pPr algn="ctr">
              <a:defRPr sz="1100" b="1">
                <a:solidFill>
                  <a:srgbClr val="051C2C"/>
                </a:solidFill>
              </a:defRPr>
            </a:pPr>
            <a:r>
              <a:t>Dedicated Product Teams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Managed squads with tech lead, devs, and QA.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3108960"/>
            <a:ext cx="2651760" cy="36576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3108960"/>
            <a:ext cx="2651760" cy="1508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tlCol="0" anchor="ctr"/>
          <a:lstStyle/>
          <a:p>
            <a:pPr algn="ctr">
              <a:defRPr sz="1100" b="1">
                <a:solidFill>
                  <a:srgbClr val="051C2C"/>
                </a:solidFill>
              </a:defRPr>
            </a:pPr>
            <a:r>
              <a:t>End-to-End Software Delivery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Discovery through deployment and maintenance.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51760" cy="36576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491947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Synvoric · Confidential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66FF"/>
                </a:solidFill>
              </a:defRPr>
            </a:pPr>
            <a: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66FF"/>
                </a:solidFill>
                <a:latin typeface="Calibri"/>
              </a:defRPr>
            </a:pPr>
            <a:r>
              <a:t>SERVICE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1C2C"/>
                </a:solidFill>
                <a:latin typeface="Calibri"/>
              </a:defRPr>
            </a:pPr>
            <a:r>
              <a:t>Frontend Developer Staffing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411480" cy="2743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80467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</a:defRPr>
            </a:pPr>
            <a:r>
              <a:t>—  Responsive web &amp; SPA development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</a:defRPr>
            </a:pPr>
            <a:r>
              <a:t>—  Design system &amp; component architecture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</a:defRPr>
            </a:pPr>
            <a:r>
              <a:t>—  Performance optimization &amp; accessibility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</a:defRPr>
            </a:pPr>
            <a:r>
              <a:t>—  Senior React, Next.js, Angular developers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491947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Synvoric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66FF"/>
                </a:solidFill>
              </a:defRPr>
            </a:pPr>
            <a: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66FF"/>
                </a:solidFill>
                <a:latin typeface="Calibri"/>
              </a:defRPr>
            </a:pPr>
            <a:r>
              <a:t>SERVICE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1C2C"/>
                </a:solidFill>
                <a:latin typeface="Calibri"/>
              </a:defRPr>
            </a:pPr>
            <a:r>
              <a:t>AI &amp; ML Engineer Staffing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411480" cy="2743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80467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</a:defRPr>
            </a:pPr>
            <a:r>
              <a:t>—  LLM integration &amp; prompt engineering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</a:defRPr>
            </a:pPr>
            <a:r>
              <a:t>—  Custom model training &amp; fine-tuning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</a:defRPr>
            </a:pPr>
            <a:r>
              <a:t>—  MLOps &amp; deployment pipelines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</a:defRPr>
            </a:pPr>
            <a:r>
              <a:t>—  NLP, computer vision &amp; 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491947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Synvoric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66FF"/>
                </a:solidFill>
              </a:defRPr>
            </a:pPr>
            <a: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66FF"/>
                </a:solidFill>
                <a:latin typeface="Calibri"/>
              </a:defRPr>
            </a:pPr>
            <a:r>
              <a:t>SERVICE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1C2C"/>
                </a:solidFill>
                <a:latin typeface="Calibri"/>
              </a:defRPr>
            </a:pPr>
            <a:r>
              <a:t>Web &amp; Mobile App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411480" cy="2743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4023360" cy="29260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37160" rtlCol="0" anchor="ctr"/>
          <a:lstStyle/>
          <a:p>
            <a:pPr algn="ctr">
              <a:defRPr sz="1300" b="1">
                <a:solidFill>
                  <a:srgbClr val="051C2C"/>
                </a:solidFill>
              </a:defRPr>
            </a:pPr>
            <a:r>
              <a:t>Web App Development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—  MERN &amp; MEAN stack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—  Enterprise portals &amp; SaaS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—  REST &amp; GraphQL APIs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1417320"/>
            <a:ext cx="4023360" cy="29260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37160" rtlCol="0" anchor="ctr"/>
          <a:lstStyle/>
          <a:p>
            <a:pPr algn="ctr">
              <a:defRPr sz="1300" b="1">
                <a:solidFill>
                  <a:srgbClr val="051C2C"/>
                </a:solidFill>
              </a:defRPr>
            </a:pPr>
            <a:r>
              <a:t>Mobile App Development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—  iOS (Swift) &amp; Android (Kotlin)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—  React Native &amp; Flutter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—  App Store deployment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491947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Synvoric ·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66FF"/>
                </a:solidFill>
              </a:defRPr>
            </a:pPr>
            <a: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304055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5204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Technologies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solidFill>
            <a:srgbClr val="03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91947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Synvoric ·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699FF"/>
                </a:solidFill>
              </a:defRPr>
            </a:pPr>
            <a: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66FF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1C2C"/>
                </a:solidFill>
                <a:latin typeface="Calibri"/>
              </a:defRPr>
            </a:pPr>
            <a:r>
              <a:t>Technologies Our Developers Master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411480" cy="2743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2011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66FF"/>
                </a:solidFill>
              </a:defRPr>
            </a:pPr>
            <a:r>
              <a:t>FRONTEND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React · Next.js · Angular · Vue.js · TypeScript · Tailwind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417320"/>
            <a:ext cx="2011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66FF"/>
                </a:solidFill>
              </a:defRPr>
            </a:pPr>
            <a:r>
              <a:t>AI &amp; ML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Python · TensorFlow · PyTorch · OpenAI · Hugging Face · MLOps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1417320"/>
            <a:ext cx="2011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66FF"/>
                </a:solidFill>
              </a:defRPr>
            </a:pPr>
            <a:r>
              <a:t>MOBILE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React Native · Flutter · Swift · Kotlin · iOS · Android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417320"/>
            <a:ext cx="2011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66FF"/>
                </a:solidFill>
              </a:defRPr>
            </a:pPr>
            <a:r>
              <a:t>BACKEND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Node.js · MongoDB · PostgreSQL · GraphQL · AWS · Docker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491947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Synvoric ·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66FF"/>
                </a:solidFill>
              </a:defRPr>
            </a:pPr>
            <a: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66FF"/>
                </a:solidFill>
                <a:latin typeface="Calibri"/>
              </a:defRPr>
            </a:pPr>
            <a:r>
              <a:t>DIFFERENTIATORS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1C2C"/>
                </a:solidFill>
                <a:latin typeface="Calibri"/>
              </a:defRPr>
            </a:pPr>
            <a:r>
              <a:t>Why Synvoric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411480" cy="2743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45720" cy="141732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39319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51C2C"/>
                </a:solidFill>
              </a:defRPr>
            </a:pPr>
            <a:r>
              <a:t>Rigorous Vetting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Technical assessments, live coding, and communication screening.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417320"/>
            <a:ext cx="45720" cy="141732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83480" y="1417320"/>
            <a:ext cx="39319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51C2C"/>
                </a:solidFill>
              </a:defRPr>
            </a:pPr>
            <a:r>
              <a:t>Speed to Hire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Average two weeks from requirement to onboarded developer.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45720" cy="141732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3108960"/>
            <a:ext cx="39319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51C2C"/>
                </a:solidFill>
              </a:defRPr>
            </a:pPr>
            <a:r>
              <a:t>Flexible Models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Staff augmentation, dedicated teams, or full delivery.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3108960"/>
            <a:ext cx="45720" cy="141732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83480" y="3108960"/>
            <a:ext cx="39319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51C2C"/>
                </a:solidFill>
              </a:defRPr>
            </a:pPr>
            <a:r>
              <a:t>Account Partnership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Dedicated account manager with weekly check-ins.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491947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Synvoric · Confidential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66FF"/>
                </a:solidFill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66FF"/>
                </a:solidFill>
                <a:latin typeface="Calibri"/>
              </a:defRPr>
            </a:pPr>
            <a:r>
              <a:t>TRACK RECORD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1C2C"/>
                </a:solidFill>
                <a:latin typeface="Calibri"/>
              </a:defRPr>
            </a:pPr>
            <a:r>
              <a:t>How We Work &amp; Who We Serve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411480" cy="2743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920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66FF"/>
                </a:solidFill>
              </a:defRPr>
            </a:pPr>
            <a:r>
              <a:t>01</a:t>
            </a:r>
          </a:p>
          <a:p>
            <a:pPr algn="ctr">
              <a:defRPr sz="1100" b="1">
                <a:solidFill>
                  <a:srgbClr val="051C2C"/>
                </a:solidFill>
              </a:defRPr>
            </a:pPr>
            <a:r>
              <a:t>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97480" y="1417320"/>
            <a:ext cx="1920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66FF"/>
                </a:solidFill>
              </a:defRPr>
            </a:pPr>
            <a:r>
              <a:t>02</a:t>
            </a:r>
          </a:p>
          <a:p>
            <a:pPr algn="ctr">
              <a:defRPr sz="1100" b="1">
                <a:solidFill>
                  <a:srgbClr val="051C2C"/>
                </a:solidFill>
              </a:defRPr>
            </a:pPr>
            <a:r>
              <a:t>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417320"/>
            <a:ext cx="1920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66FF"/>
                </a:solidFill>
              </a:defRPr>
            </a:pPr>
            <a:r>
              <a:t>03</a:t>
            </a:r>
          </a:p>
          <a:p>
            <a:pPr algn="ctr">
              <a:defRPr sz="1100" b="1">
                <a:solidFill>
                  <a:srgbClr val="051C2C"/>
                </a:solidFill>
              </a:defRPr>
            </a:pPr>
            <a:r>
              <a:t>Onboard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0" y="1417320"/>
            <a:ext cx="1920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66FF"/>
                </a:solidFill>
              </a:defRPr>
            </a:pPr>
            <a:r>
              <a:t>04</a:t>
            </a:r>
          </a:p>
          <a:p>
            <a:pPr algn="ctr">
              <a:defRPr sz="1100" b="1">
                <a:solidFill>
                  <a:srgbClr val="051C2C"/>
                </a:solidFill>
              </a:defRPr>
            </a:pPr>
            <a:r>
              <a:t>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66FF"/>
                </a:solidFill>
              </a:defRPr>
            </a:pPr>
            <a:r>
              <a:t>SELECTED CLIENTS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Chandrawat Concrete Works  ·  Firangi Cafe &amp; Bar  ·  The Grand Shaurya  ·  Techturtle  ·  SIG SIGMA  ·  Tripolic  ·  Jyoti Creative Cards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491947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Synvoric ·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66FF"/>
                </a:solidFill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66FF"/>
                </a:solidFill>
                <a:latin typeface="Calibri"/>
              </a:defRPr>
            </a:pPr>
            <a:r>
              <a:t>GET IN TOUCH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1C2C"/>
                </a:solidFill>
                <a:latin typeface="Calibri"/>
              </a:defRPr>
            </a:pPr>
            <a:r>
              <a:t>Let's Build Your Engineering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411480" cy="2743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6400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66FF"/>
                </a:solidFill>
              </a:defRPr>
            </a:pPr>
            <a:r>
              <a:t>palak.agrawal@synvoric.com</a:t>
            </a:r>
          </a:p>
          <a:p>
            <a:pPr algn="ctr">
              <a:defRPr sz="1400">
                <a:solidFill>
                  <a:srgbClr val="64748B"/>
                </a:solidFill>
              </a:defRPr>
            </a:pPr>
            <a:r>
              <a:t>www.synvoric.com</a:t>
            </a:r>
          </a:p>
          <a:p>
            <a:br/>
            <a:r>
              <a:t>Staff Augmentation  ·  Dedicated Teams  ·  Project Delivery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491947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Synvoric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66FF"/>
                </a:solidFill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1078</TotalTime>
  <Words>554</Words>
  <Application>Microsoft Macintosh PowerPoint</Application>
  <PresentationFormat>On-screen Show (16:9)</PresentationFormat>
  <Paragraphs>116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Sourabh Agrawal</cp:lastModifiedBy>
  <cp:revision>2</cp:revision>
  <dcterms:created xsi:type="dcterms:W3CDTF">2013-01-27T09:14:16Z</dcterms:created>
  <dcterms:modified xsi:type="dcterms:W3CDTF">2026-05-26T04:21:06Z</dcterms:modified>
  <cp:category/>
</cp:coreProperties>
</file>