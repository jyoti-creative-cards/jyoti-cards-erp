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51" d="100"/>
          <a:sy n="151" d="100"/>
        </p:scale>
        <p:origin x="5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21" y="452797"/>
            <a:ext cx="2756747" cy="27567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2433" y="3547147"/>
            <a:ext cx="73152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Capability &amp; Engagement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15267" y="1517227"/>
            <a:ext cx="1769533" cy="48218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1400" b="0" i="0">
                <a:solidFill>
                  <a:srgbClr val="CBD5E1"/>
                </a:solidFill>
                <a:latin typeface="Calibri"/>
              </a:defRPr>
            </a:pPr>
            <a:r>
              <a:rPr dirty="0"/>
              <a:t>Initial discussion with Consumables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7672"/>
            <a:ext cx="73152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900" b="0" i="0">
                <a:solidFill>
                  <a:srgbClr val="64748B"/>
                </a:solidFill>
                <a:latin typeface="Calibri"/>
              </a:defRPr>
            </a:pPr>
            <a:r>
              <a:rPr dirty="0"/>
              <a:t>May 2026  ·  </a:t>
            </a:r>
            <a:r>
              <a:rPr dirty="0" err="1"/>
              <a:t>synvoric.com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6699FF"/>
                </a:solidFill>
                <a:latin typeface="Calibri"/>
              </a:defRPr>
            </a:pPr>
            <a:r>
              <a:t>01 / 17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31AD7-5CF4-8E1C-0550-79EA135E6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650" y="452796"/>
            <a:ext cx="2876550" cy="27567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Synvoric can deliver design and frontend capacity for Consumables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45720" cy="7772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4630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0008" y="1554480"/>
            <a:ext cx="5943600" cy="8686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Synvoric maintains a vetted bench of UX/UI designers and frontend developers across junior, mid, and senior experience tiers — available on flexible engagement terms.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45720" cy="7772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514600"/>
            <a:ext cx="14630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0008" y="2514600"/>
            <a:ext cx="5943600" cy="8686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We propose to share matched candidate profiles aligned to your specific role briefs, stack, and seniority needs — and let you interview before commitment.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74720"/>
            <a:ext cx="45720" cy="7772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146304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COMMERCIALS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0008" y="3474720"/>
            <a:ext cx="5943600" cy="8686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Indicative monthly rates start from $3,000 USD per resource and scale by role and seniority. Final rate confirmed once role briefs are shared.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617720"/>
            <a:ext cx="7827264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Calibri"/>
              </a:defRPr>
            </a:pPr>
            <a:r>
              <a:t>Source: Synvoric internal data, FY 2025–26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What we will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411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400" b="1" i="0">
                <a:solidFill>
                  <a:srgbClr val="0066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554480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About Synvoric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554480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Who we are and why staffing leaders trust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21408"/>
            <a:ext cx="411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400" b="1" i="0">
                <a:solidFill>
                  <a:srgbClr val="0066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21408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Our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121408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Talent areas, tech stack, and bench depth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88336"/>
            <a:ext cx="411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400" b="1" i="0">
                <a:solidFill>
                  <a:srgbClr val="0066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688336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Engagement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688336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Staff augmentation, dedicated teams, project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55264"/>
            <a:ext cx="411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400" b="1" i="0">
                <a:solidFill>
                  <a:srgbClr val="0066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55264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Indicative Commercials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255264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Rate ranges and how pricing is determined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22192"/>
            <a:ext cx="41148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400" b="1" i="0">
                <a:solidFill>
                  <a:srgbClr val="0066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22192"/>
            <a:ext cx="2743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822192"/>
            <a:ext cx="393192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64748B"/>
                </a:solidFill>
                <a:latin typeface="Calibri"/>
              </a:defRPr>
            </a:pPr>
            <a:r>
              <a:t>Path to candidate profiles and engagement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ABOUT SYNVORIC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A focused staffing partner for design, frontend, and AI engineering talent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680959" cy="38985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rPr dirty="0" err="1"/>
              <a:t>Synvoric</a:t>
            </a:r>
            <a:r>
              <a:rPr dirty="0"/>
              <a:t> is a professional IT staffing firm specializing in frontend developers, UX/UI designers, and AI engineers. We help companies scale product teams with pre-vetted talent — integrated into your tools, sprints, and delivery cadence.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834640"/>
            <a:ext cx="178308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66FF"/>
                </a:solidFill>
              </a:defRPr>
            </a:pPr>
            <a:r>
              <a:rPr dirty="0"/>
              <a:t>50+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rPr dirty="0"/>
              <a:t>Developers Placed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624328" y="2834640"/>
            <a:ext cx="178308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66FF"/>
                </a:solidFill>
              </a:defRPr>
            </a:pPr>
            <a:r>
              <a:t>10+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Active Clients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90288" y="2834640"/>
            <a:ext cx="178308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66FF"/>
                </a:solidFill>
              </a:defRPr>
            </a:pPr>
            <a:r>
              <a:t>100%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Client Retention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7" y="2834640"/>
            <a:ext cx="178308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066FF"/>
                </a:solidFill>
              </a:defRPr>
            </a:pPr>
            <a:r>
              <a:t>2 Wks</a:t>
            </a:r>
          </a:p>
          <a:p>
            <a:pPr algn="ctr">
              <a:defRPr sz="800">
                <a:solidFill>
                  <a:srgbClr val="64748B"/>
                </a:solidFill>
              </a:defRPr>
            </a:pPr>
            <a:r>
              <a:t>Avg. Time to Hire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17720"/>
            <a:ext cx="7827264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Calibri"/>
              </a:defRPr>
            </a:pPr>
            <a:r>
              <a:t>Source: Synvoric internal data, FY 2025–26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Four reasons leading product teams choose Synvoric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4572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Rigorous Vetting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36576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Portfolio review, technical assessments, and live interviews.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1">
                <a:solidFill>
                  <a:srgbClr val="0066FF"/>
                </a:solidFill>
                <a:latin typeface="Calibri"/>
              </a:defRPr>
            </a:pPr>
            <a:r>
              <a:t>100% client retention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1554480"/>
            <a:ext cx="4572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0" y="155448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Speed to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847088"/>
            <a:ext cx="3657600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Candidates onboarded inside two weeks of confirmation.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1">
                <a:solidFill>
                  <a:srgbClr val="0066FF"/>
                </a:solidFill>
                <a:latin typeface="Calibri"/>
              </a:defRPr>
            </a:pPr>
            <a:r>
              <a:t>2 weeks average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63240"/>
            <a:ext cx="4572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Flexible Engagement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55848"/>
            <a:ext cx="3657600" cy="21287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rPr dirty="0"/>
              <a:t>Scale up or down with </a:t>
            </a:r>
            <a:r>
              <a:rPr lang="en-US" dirty="0"/>
              <a:t>15</a:t>
            </a:r>
            <a:r>
              <a:rPr dirty="0"/>
              <a:t>-day notice — no long-term lock-in.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1">
                <a:solidFill>
                  <a:srgbClr val="0066FF"/>
                </a:solidFill>
                <a:latin typeface="Calibri"/>
              </a:defRPr>
            </a:pPr>
            <a:r>
              <a:t>30-day rolling notice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3063240"/>
            <a:ext cx="45720" cy="132588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30632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Replacement Guarantee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355848"/>
            <a:ext cx="3657600" cy="212879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rPr dirty="0"/>
              <a:t>Replace any resource within </a:t>
            </a:r>
            <a:r>
              <a:rPr lang="en-US" dirty="0"/>
              <a:t>7</a:t>
            </a:r>
            <a:r>
              <a:rPr dirty="0"/>
              <a:t> days at no extra cost.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02336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1">
                <a:solidFill>
                  <a:srgbClr val="0066FF"/>
                </a:solidFill>
                <a:latin typeface="Calibri"/>
              </a:defRPr>
            </a:pPr>
            <a:r>
              <a:t>Zero risk to 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617720"/>
            <a:ext cx="7827264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Calibri"/>
              </a:defRPr>
            </a:pPr>
            <a:r>
              <a:t>Source: Synvoric internal data, FY 2025–26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19456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5200" b="1" i="0">
                <a:solidFill>
                  <a:srgbClr val="1A2E45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8272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Our Capability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401568"/>
            <a:ext cx="50292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78272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Talent areas, technology stack, and bench depth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6699FF"/>
                </a:solidFill>
                <a:latin typeface="Calibri"/>
              </a:defRPr>
            </a:pPr>
            <a: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What we staff — frontend, design, and full-stack product talent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3749039" cy="1325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54480"/>
            <a:ext cx="3749039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19072"/>
            <a:ext cx="3429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Frontend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42900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React, Next.js, Angular, Vue, TypeScript — junior to senior tiers.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0288" y="1554480"/>
            <a:ext cx="3749039" cy="1325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90288" y="1554480"/>
            <a:ext cx="3749039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1719072"/>
            <a:ext cx="3429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UX / UI Designers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057400"/>
            <a:ext cx="342900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Figma-led design — user research, wireframes, prototypes, design systems.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063240"/>
            <a:ext cx="3749039" cy="1325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063240"/>
            <a:ext cx="3749039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27832"/>
            <a:ext cx="3429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Full-Stack &amp; 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42900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MERN / MEAN, React Native, Flutter — full product capability when needed.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90288" y="3063240"/>
            <a:ext cx="3749039" cy="13258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90288" y="3063240"/>
            <a:ext cx="3749039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3227832"/>
            <a:ext cx="34290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50" b="1" i="0">
                <a:solidFill>
                  <a:srgbClr val="051C2C"/>
                </a:solidFill>
                <a:latin typeface="Calibri"/>
              </a:defRPr>
            </a:pPr>
            <a:r>
              <a:t>AI / ML Engineers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566160"/>
            <a:ext cx="3429000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LLM integration, ML pipelines, MLOps — for AI-powered product features.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Technologies our developers and designers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45720" cy="5669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31520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React · Next.js · Angular · Vue.js · TypeScript · Tailwind · Redux · Vite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267712"/>
            <a:ext cx="45720" cy="5669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267712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42032"/>
            <a:ext cx="731520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Figma · Adobe XD · Sketch · Framer · Design Systems · Prototyping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980944"/>
            <a:ext cx="45720" cy="5669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80944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MOBILE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55264"/>
            <a:ext cx="731520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React Native · Flutter · Swift · Kotlin · iOS · Android · Expo · Firebase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694176"/>
            <a:ext cx="45720" cy="566928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694176"/>
            <a:ext cx="18288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066FF"/>
                </a:solidFill>
                <a:latin typeface="Calibri"/>
              </a:defRPr>
            </a:pPr>
            <a:r>
              <a:t>BACKEND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68496"/>
            <a:ext cx="731520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Node.js · MongoDB · PostgreSQL · GraphQL · AWS · Docker · Kubernetes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TALENT POOL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Bench depth across roles and seniority — matched to your specific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783080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664208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800" b="1" i="0">
                <a:solidFill>
                  <a:srgbClr val="0066FF"/>
                </a:solidFill>
                <a:latin typeface="Calibri"/>
              </a:defRPr>
            </a:pPr>
            <a:r>
              <a:t>25+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Frontend Developers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67712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Calibri"/>
              </a:defRPr>
            </a:pPr>
            <a:r>
              <a:t>Junior · Mid · Senior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1554480"/>
            <a:ext cx="1783080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24328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34056" y="1664208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800" b="1" i="0">
                <a:solidFill>
                  <a:srgbClr val="0066FF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1965960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UX / UI Designers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2267712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Calibri"/>
              </a:defRPr>
            </a:pPr>
            <a:r>
              <a:t>Junior · Mid · Senior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1554480"/>
            <a:ext cx="1783080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90288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1664208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800" b="1" i="0">
                <a:solidFill>
                  <a:srgbClr val="0066FF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65960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Full-Stack Engineers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67712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Calibri"/>
              </a:defRPr>
            </a:pPr>
            <a:r>
              <a:t>MERN · MEAN · Cloud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7" y="1554480"/>
            <a:ext cx="1783080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56247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65975" y="1664208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800" b="1" i="0">
                <a:solidFill>
                  <a:srgbClr val="0066FF"/>
                </a:solidFill>
                <a:latin typeface="Calibri"/>
              </a:defRPr>
            </a:pPr>
            <a:r>
              <a:t>8+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5" y="1965960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AI / ML Engineers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5" y="2267712"/>
            <a:ext cx="155448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  <a:latin typeface="Calibri"/>
              </a:defRPr>
            </a:pPr>
            <a:r>
              <a:t>ML · LLMs · MLOps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834640"/>
            <a:ext cx="7827264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1" i="0">
                <a:solidFill>
                  <a:srgbClr val="0066FF"/>
                </a:solidFill>
                <a:latin typeface="Calibri"/>
              </a:defRPr>
            </a:pPr>
            <a:r>
              <a:t>SENIORITY TIERS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108960"/>
            <a:ext cx="24688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95528" y="3218688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1" i="0">
                <a:solidFill>
                  <a:srgbClr val="051C2C"/>
                </a:solidFill>
                <a:latin typeface="Calibri"/>
              </a:defRPr>
            </a:pPr>
            <a:r>
              <a:t>Junior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" y="3493008"/>
            <a:ext cx="219456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0">
                <a:solidFill>
                  <a:srgbClr val="0066FF"/>
                </a:solidFill>
                <a:latin typeface="Calibri"/>
              </a:defRPr>
            </a:pPr>
            <a:r>
              <a:t>1–2 years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3767328"/>
            <a:ext cx="2194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0" i="0">
                <a:solidFill>
                  <a:srgbClr val="334155"/>
                </a:solidFill>
                <a:latin typeface="Calibri"/>
              </a:defRPr>
            </a:pPr>
            <a:r>
              <a:t>Mentored execution on well-defined tasks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3108960"/>
            <a:ext cx="24688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410712" y="3218688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1" i="0">
                <a:solidFill>
                  <a:srgbClr val="051C2C"/>
                </a:solidFill>
                <a:latin typeface="Calibri"/>
              </a:defRPr>
            </a:pPr>
            <a:r>
              <a:t>Mid-level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0712" y="3493008"/>
            <a:ext cx="219456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0">
                <a:solidFill>
                  <a:srgbClr val="0066FF"/>
                </a:solidFill>
                <a:latin typeface="Calibri"/>
              </a:defRPr>
            </a:pPr>
            <a:r>
              <a:t>3–5 years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0712" y="3767328"/>
            <a:ext cx="2194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0" i="0">
                <a:solidFill>
                  <a:srgbClr val="334155"/>
                </a:solidFill>
                <a:latin typeface="Calibri"/>
              </a:defRPr>
            </a:pPr>
            <a:r>
              <a:t>Independent delivery, code reviews, design ownership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88736" y="3108960"/>
            <a:ext cx="24688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25896" y="3218688"/>
            <a:ext cx="219456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1" i="0">
                <a:solidFill>
                  <a:srgbClr val="051C2C"/>
                </a:solidFill>
                <a:latin typeface="Calibri"/>
              </a:defRPr>
            </a:pPr>
            <a:r>
              <a:t>Senior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25896" y="3493008"/>
            <a:ext cx="219456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1" i="0">
                <a:solidFill>
                  <a:srgbClr val="0066FF"/>
                </a:solidFill>
                <a:latin typeface="Calibri"/>
              </a:defRPr>
            </a:pPr>
            <a:r>
              <a:t>5+ years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25896" y="3767328"/>
            <a:ext cx="219456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0" i="0">
                <a:solidFill>
                  <a:srgbClr val="334155"/>
                </a:solidFill>
                <a:latin typeface="Calibri"/>
              </a:defRPr>
            </a:pPr>
            <a:r>
              <a:t>Architecture, mentoring, technical leadership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4617720"/>
            <a:ext cx="7827264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Calibri"/>
              </a:defRPr>
            </a:pPr>
            <a:r>
              <a:t>Source: Synvoric internal data, FY 2025–26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19456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5200" b="1" i="0">
                <a:solidFill>
                  <a:srgbClr val="1A2E4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8272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The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401568"/>
            <a:ext cx="50292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78272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How we engage and how the work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6699FF"/>
                </a:solidFill>
                <a:latin typeface="Calibri"/>
              </a:defRPr>
            </a:pPr>
            <a: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ENGAGEMENT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Clear ownership — one account manager, dedicated specialists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0" y="1691640"/>
            <a:ext cx="2926080" cy="640080"/>
          </a:xfrm>
          <a:prstGeom prst="rect">
            <a:avLst/>
          </a:prstGeom>
          <a:solidFill>
            <a:srgbClr val="051C2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Consumables Solutions — Project Owner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2743200"/>
            <a:ext cx="2926080" cy="640080"/>
          </a:xfrm>
          <a:prstGeom prst="rect">
            <a:avLst/>
          </a:prstGeom>
          <a:solidFill>
            <a:srgbClr val="006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Synvoric — Account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3840480"/>
            <a:ext cx="164592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Dedicated Resource</a:t>
            </a:r>
          </a:p>
          <a:p>
            <a:pPr algn="ctr">
              <a:defRPr sz="1050" b="1">
                <a:solidFill>
                  <a:srgbClr val="051C2C"/>
                </a:solidFill>
              </a:defRPr>
            </a:pPr>
            <a:r>
              <a:t>UX / UI Designer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3840480"/>
            <a:ext cx="1645920" cy="6400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Dedicated Resource</a:t>
            </a:r>
          </a:p>
          <a:p>
            <a:pPr algn="ctr">
              <a:defRPr sz="1050" b="1">
                <a:solidFill>
                  <a:srgbClr val="051C2C"/>
                </a:solidFill>
              </a:defRPr>
            </a:pPr>
            <a:r>
              <a:t>Frontend Developer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2331720"/>
            <a:ext cx="18288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03320" y="3566160"/>
            <a:ext cx="173736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62856" y="3383280"/>
            <a:ext cx="18288" cy="1828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703320" y="3584448"/>
            <a:ext cx="1828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40680" y="3584448"/>
            <a:ext cx="18288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691640"/>
            <a:ext cx="18288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Weekly cadence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38528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alibri"/>
              </a:defRPr>
            </a:pPr>
            <a:r>
              <a:t>Status report every Friday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51760"/>
            <a:ext cx="18288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Single point of 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98648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alibri"/>
              </a:defRPr>
            </a:pPr>
            <a:r>
              <a:t>All escalations via Account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611880"/>
            <a:ext cx="182880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No team management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858768"/>
            <a:ext cx="182880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50" b="0" i="0">
                <a:solidFill>
                  <a:srgbClr val="64748B"/>
                </a:solidFill>
                <a:latin typeface="Calibri"/>
              </a:defRPr>
            </a:pPr>
            <a:r>
              <a:t>Synvoric handles payroll and oversight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12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2194560"/>
            <a:ext cx="2743200" cy="64008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5200" b="1" i="0">
                <a:solidFill>
                  <a:srgbClr val="1A2E45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743200"/>
            <a:ext cx="7827264" cy="5943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3000" b="1" i="0">
                <a:solidFill>
                  <a:srgbClr val="FFFFFF"/>
                </a:solidFill>
                <a:latin typeface="Calibri"/>
              </a:defRPr>
            </a:pPr>
            <a:r>
              <a:t>Commercials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3401568"/>
            <a:ext cx="502920" cy="27432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3520440"/>
            <a:ext cx="7827264" cy="3200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0" i="0">
                <a:solidFill>
                  <a:srgbClr val="CBD5E1"/>
                </a:solidFill>
                <a:latin typeface="Calibri"/>
              </a:defRPr>
            </a:pPr>
            <a:r>
              <a:t>Indicative pricing and what we need from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6699FF"/>
                </a:solidFill>
                <a:latin typeface="Calibri"/>
              </a:defRPr>
            </a:pPr>
            <a:r>
              <a:t>13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INDICATIVE 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Rate ranges by role — final pricing confirmed once we see your role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061335"/>
              </p:ext>
            </p:extLst>
          </p:nvPr>
        </p:nvGraphicFramePr>
        <p:xfrm>
          <a:off x="658368" y="1554480"/>
          <a:ext cx="782726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3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Experience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Allocation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Indicative Range (USD / month)</a:t>
                      </a:r>
                    </a:p>
                  </a:txBody>
                  <a:tcPr anchor="ctr">
                    <a:solidFill>
                      <a:srgbClr val="051C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UX / UI Designer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 – 6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$ 3,000  –  $ 4,500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Frontend Developer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 – 6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$ 3,500  –  $ 5,000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Senior Specialist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lang="en-US" dirty="0"/>
                        <a:t>8</a:t>
                      </a:r>
                      <a:r>
                        <a:rPr dirty="0"/>
                        <a:t>+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Full-time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rPr dirty="0"/>
                        <a:t>On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3538728"/>
            <a:ext cx="7827264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1" i="0">
                <a:solidFill>
                  <a:srgbClr val="0066FF"/>
                </a:solidFill>
                <a:latin typeface="Calibri"/>
              </a:defRPr>
            </a:pPr>
            <a:r>
              <a:t>RATE IS DETERMINED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13048"/>
            <a:ext cx="11887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Seniority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3813048"/>
            <a:ext cx="26060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t>Years of experience and depth of expertise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0288" y="3813048"/>
            <a:ext cx="11887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Stack specialization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3813048"/>
            <a:ext cx="26060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rPr dirty="0"/>
              <a:t>Niche frameworks or tools command a premium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105656"/>
            <a:ext cx="11887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Engagement length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4105656"/>
            <a:ext cx="26060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t>Longer commitments unlock preferred 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4105656"/>
            <a:ext cx="118872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1" i="0">
                <a:solidFill>
                  <a:srgbClr val="051C2C"/>
                </a:solidFill>
                <a:latin typeface="Calibri"/>
              </a:defRPr>
            </a:pPr>
            <a:r>
              <a:t>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4105656"/>
            <a:ext cx="2606040" cy="25603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t>Full-time vs. part-time vs. shared resource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617720"/>
            <a:ext cx="7827264" cy="164592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00" b="0" i="1">
                <a:solidFill>
                  <a:srgbClr val="64748B"/>
                </a:solidFill>
                <a:latin typeface="Calibri"/>
              </a:defRPr>
            </a:pPr>
            <a:r>
              <a:t>Indicative ranges only. Final rate confirmed post role-brief alignment. All fees exclusive of applicable taxes.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14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HOW WE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3590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rPr dirty="0"/>
              <a:t>From discovery call to deployed team in under </a:t>
            </a:r>
            <a:r>
              <a:rPr lang="en-US" dirty="0"/>
              <a:t>one</a:t>
            </a:r>
            <a:r>
              <a:rPr dirty="0"/>
              <a:t>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8368" y="1554480"/>
            <a:ext cx="1783080" cy="2057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1664208"/>
            <a:ext cx="155448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1" i="0">
                <a:solidFill>
                  <a:srgbClr val="0066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920240"/>
            <a:ext cx="155448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1" i="0">
                <a:solidFill>
                  <a:srgbClr val="051C2C"/>
                </a:solidFill>
                <a:latin typeface="Calibri"/>
              </a:defRPr>
            </a:pPr>
            <a:r>
              <a:t>Role Brief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286000"/>
            <a:ext cx="1554480" cy="11887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t>Share required roles, skills, seniority, and timeline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24328" y="1554480"/>
            <a:ext cx="1783080" cy="2057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24328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34056" y="1664208"/>
            <a:ext cx="155448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1" i="0">
                <a:solidFill>
                  <a:srgbClr val="0066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1920240"/>
            <a:ext cx="155448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1" i="0">
                <a:solidFill>
                  <a:srgbClr val="051C2C"/>
                </a:solidFill>
                <a:latin typeface="Calibri"/>
              </a:defRPr>
            </a:pPr>
            <a:r>
              <a:t>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4056" y="2286000"/>
            <a:ext cx="1554480" cy="512961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rPr dirty="0"/>
              <a:t>Receive 2–3 matched candidate profiles within </a:t>
            </a:r>
            <a:r>
              <a:rPr lang="en-US" dirty="0"/>
              <a:t>1</a:t>
            </a:r>
            <a:r>
              <a:rPr dirty="0"/>
              <a:t> days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90288" y="1554480"/>
            <a:ext cx="1783080" cy="2057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90288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1664208"/>
            <a:ext cx="155448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1" i="0">
                <a:solidFill>
                  <a:srgbClr val="0066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1920240"/>
            <a:ext cx="155448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1" i="0">
                <a:solidFill>
                  <a:srgbClr val="051C2C"/>
                </a:solidFill>
                <a:latin typeface="Calibri"/>
              </a:defRPr>
            </a:pPr>
            <a:r>
              <a:t>Interviews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0016" y="2286000"/>
            <a:ext cx="1554480" cy="11887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rPr dirty="0"/>
              <a:t>Interview shortlisted candidates at your convenience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7" y="1554480"/>
            <a:ext cx="1783080" cy="205740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56247" y="1554480"/>
            <a:ext cx="1783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65975" y="1664208"/>
            <a:ext cx="1554480" cy="2286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900" b="1" i="0">
                <a:solidFill>
                  <a:srgbClr val="0066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5975" y="1920240"/>
            <a:ext cx="155448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200" b="1" i="0">
                <a:solidFill>
                  <a:srgbClr val="051C2C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65975" y="2286000"/>
            <a:ext cx="1554480" cy="359073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00" b="0" i="0">
                <a:solidFill>
                  <a:srgbClr val="334155"/>
                </a:solidFill>
                <a:latin typeface="Calibri"/>
              </a:defRPr>
            </a:pPr>
            <a:r>
              <a:rPr dirty="0"/>
              <a:t>Resources onboarded within </a:t>
            </a:r>
            <a:r>
              <a:rPr lang="en-US" dirty="0"/>
              <a:t>2</a:t>
            </a:r>
            <a:r>
              <a:rPr dirty="0"/>
              <a:t>–</a:t>
            </a:r>
            <a:r>
              <a:rPr lang="en-US" dirty="0"/>
              <a:t>3</a:t>
            </a:r>
            <a:r>
              <a:rPr dirty="0"/>
              <a:t> business days of sign-off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15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7827264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850" b="1" i="0">
                <a:solidFill>
                  <a:srgbClr val="0066FF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7827264" cy="77724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2000" b="1" i="0">
                <a:solidFill>
                  <a:srgbClr val="051C2C"/>
                </a:solidFill>
                <a:latin typeface="Calibri"/>
              </a:defRPr>
            </a:pPr>
            <a:r>
              <a:t>What we need from Consumables Solutions to share matched profiles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17320"/>
            <a:ext cx="384048" cy="2286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7827264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0" i="0">
                <a:solidFill>
                  <a:srgbClr val="334155"/>
                </a:solidFill>
                <a:latin typeface="Calibri"/>
              </a:defRPr>
            </a:pPr>
            <a:r>
              <a:t>Once we have these inputs, expect matched profiles within 3 business days.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57400"/>
            <a:ext cx="45720" cy="7772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237744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1" i="0">
                <a:solidFill>
                  <a:srgbClr val="051C2C"/>
                </a:solidFill>
                <a:latin typeface="Calibri"/>
              </a:defRPr>
            </a:pPr>
            <a:r>
              <a:t>JOB 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86584"/>
            <a:ext cx="7132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Detailed JD for each role — responsibilities, skills, and any must-haves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3063240"/>
            <a:ext cx="45720" cy="77724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2377440" cy="29260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100" b="1" i="0">
                <a:solidFill>
                  <a:srgbClr val="051C2C"/>
                </a:solidFill>
                <a:latin typeface="Calibri"/>
              </a:defRPr>
            </a:pPr>
            <a:r>
              <a:t>INDICATIVE START AND END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92424"/>
            <a:ext cx="7132320" cy="5029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Calibri"/>
              </a:defRPr>
            </a:pPr>
            <a:r>
              <a:t>Target onboarding date and expected engagement duration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4160520"/>
            <a:ext cx="7827264" cy="4114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  Contact: anshul.agrawal@synvoric.com  ·  www.synvoric.com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0066FF"/>
                </a:solidFill>
                <a:latin typeface="Calibri"/>
              </a:defRPr>
            </a:pPr>
            <a:r>
              <a:t>16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C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777240"/>
            <a:ext cx="2651760" cy="2651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9733" y="4142232"/>
            <a:ext cx="7315200" cy="45720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rPr dirty="0"/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251960" y="2834640"/>
            <a:ext cx="640080" cy="36576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7315200" cy="36576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1800" b="1" i="0">
                <a:solidFill>
                  <a:srgbClr val="CBD5E1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We look forward to partnering with Consumables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ctr">
              <a:defRPr sz="1100" b="1" i="0">
                <a:solidFill>
                  <a:srgbClr val="0066FF"/>
                </a:solidFill>
                <a:latin typeface="Calibri"/>
              </a:defRPr>
            </a:pPr>
            <a:r>
              <a:t>anshul.agrawal@synvoric.com  ·  synvoric.com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828032"/>
            <a:ext cx="9144000" cy="256032"/>
          </a:xfrm>
          <a:prstGeom prst="rect">
            <a:avLst/>
          </a:prstGeom>
          <a:solidFill>
            <a:srgbClr val="03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4855464"/>
            <a:ext cx="548640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l">
              <a:defRPr sz="750" b="0" i="0">
                <a:solidFill>
                  <a:srgbClr val="94A3B8"/>
                </a:solidFill>
                <a:latin typeface="Calibri"/>
              </a:defRPr>
            </a:pPr>
            <a:r>
              <a:t>Synvoric  ·  Discovery call with Consumables Solutions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855464"/>
            <a:ext cx="1645920" cy="201168"/>
          </a:xfrm>
          <a:prstGeom prst="rect">
            <a:avLst/>
          </a:prstGeom>
          <a:noFill/>
        </p:spPr>
        <p:txBody>
          <a:bodyPr wrap="square" lIns="25400" tIns="25400" rIns="25400" bIns="25400">
            <a:spAutoFit/>
          </a:bodyPr>
          <a:lstStyle/>
          <a:p>
            <a:pPr algn="r">
              <a:defRPr sz="750" b="1" i="0">
                <a:solidFill>
                  <a:srgbClr val="6699FF"/>
                </a:solidFill>
                <a:latin typeface="Calibri"/>
              </a:defRPr>
            </a:pPr>
            <a: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1150</Words>
  <Application>Microsoft Macintosh PowerPoint</Application>
  <PresentationFormat>On-screen Show (16:9)</PresentationFormat>
  <Paragraphs>210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Sourabh Agrawal</cp:lastModifiedBy>
  <cp:revision>2</cp:revision>
  <dcterms:created xsi:type="dcterms:W3CDTF">2013-01-27T09:14:16Z</dcterms:created>
  <dcterms:modified xsi:type="dcterms:W3CDTF">2026-05-29T07:29:19Z</dcterms:modified>
  <cp:category/>
</cp:coreProperties>
</file>